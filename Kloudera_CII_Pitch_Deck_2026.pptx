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to the presentation of Kloudera Technologies for the CII Startupreneur Awards 2026. Kloudera Technologies is a high-assurance enterprise platform architecting secure, Zero-Trust digital enterprises. This presentation will showcase our innovations, technology stack, social impact, and strategic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Kloudera Technologies is registered under the Ministry of MSME and recognized under the flagship Startup India initiative. Our R&amp;D headquarters is in Bengaluru and our main operations center is in Pune. Our vision is to provide high-stakes enterprise resilience for global multinationals and Indian businesses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IT leaders face a combined threat: increasing cyber attacks, legacy systems, complex compliance, and a major skill gap. Kloudera addresses these interconnected issues through a unified platform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unite five critical technology pillars. By layering cybersecurity on top of cloud, AI, and automation, we eliminate security gaps and dramatically speed up implementation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presents a granular list of our capabilities. It includes managed cybersecurity services, cloud governance, automation pipelines, and custom enterprise software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technology stack is built on industry-standard global technologies. We leverage Microsoft Azure, AWS, and Google Cloud for cloud hosting, and use advanced tools like Terraform, Sprinto, and proprietary MLSecOps to ensure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Kloudera differentiates itself through an AI-First, secure-by-design, vendor-agnostic architecture. We allow clients to deploy customized LLMs locally, ensuring privacy and data ownership while optimizing cloud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serve critical sectors like Banking, Healthcare, Manufacturing, and Education. Our clients include leading fintech companies like IndiaCapital and top universities like Symbiosis Institute of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potential across Gen-AI, Cloud, Cybersecurity, and automation is massive. Bespoke LLMs alone are driving a $1.3 trillion transition, which aligns perfectly with our AI Center of Excellence.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model drives long-term customer success. We acquire clients via initial audits, build their custom systems, and retain them through high-margin, recurring managed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Trainees and enterprise clients follow a standard path. We move them from initial audit to production monitoring, ensuring they are protected and optimized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positioned as a superior alternative to traditional IT outsourcing. By integrating security, AI customization, and automation speed, we offer higher value at lower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leadership team combines deep technical expertise with executive management skills. CEO Ratnesh Pandey has extensive experience as a Virtual CISO, and Director Deepa Pandey leads HR, operations, and strategic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collaborate with global leaders. Our partnerships with Microsoft, MongoDB, Cross Cipher, and Sprinto allow us to deliver fully integrated, verified, and compliant infrastructures.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a trusted engineering partner. Our client portfolio spans FinTech, construction consultancy, enterprise IT, and higher education. This validates the versatility of our solutions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standard IT consulting firms, Kloudera is building proprietary software products. Our data recovery, meet scheduler, and remote device manager products are currently in active staging/beta phases, providing high-margin software SaaS potentials.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is designed for global scale. In 2026, we complete our proprietary tools. By 2027, we launch SaaS licensing, followed by geographical expansion in 2028.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model drives substantial economic and social benefits. We are contributing directly to national skilling, employment, and digital safety initiatives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2030, Kloudera expects to be a recognized leader in international enterprise resilience. We will drive SaaS solutions across global markets while maintaining our zero-trust engineering excellence.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you, judges. We are open for any questions regarding our technologies, market expansion plans, and academic partnerships.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A2C6D"/>
                </a:solidFill>
                <a:latin typeface="Arial"/>
              </a:defRPr>
            </a:pPr>
            <a:r>
              <a:t>CII STARTUPRENEUR AWARDS 2026</a:t>
            </a:r>
          </a:p>
          <a:p>
            <a:pPr>
              <a:spcBef>
                <a:spcPts val="2000"/>
              </a:spcBef>
              <a:defRPr sz="1800">
                <a:solidFill>
                  <a:srgbClr val="2563EB"/>
                </a:solidFill>
                <a:latin typeface="Arial"/>
              </a:defRPr>
            </a:pPr>
            <a:r>
              <a:t>Kloudera Technologies Pvt. Ltd.</a:t>
            </a:r>
            <a:br/>
            <a:r>
              <a:t>Empowering Secure Digital Transformation</a:t>
            </a:r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4572000" cy="36576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Official Submission | Category: Technology &amp; Digital Innovation</a:t>
            </a:r>
            <a:br/>
            <a:r>
              <a:t>www.kloudera.ai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2563EB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t>Built for High-Stakes Enterprise Resilience.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2563EB"/>
                </a:solidFill>
                <a:latin typeface="Arial"/>
              </a:defRPr>
            </a:pPr>
            <a: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We believe in your success and that technology can drive the best results for your business, no matter your industry or goals.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GOVERNMENT ACCREDITATION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• #startupindia Recognized</a:t>
            </a:r>
            <a:br/>
            <a:r>
              <a:t>  DPIIT Registered Venture (Govt. of India)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• MSME Certified Enterprise</a:t>
            </a:r>
            <a:br/>
            <a:r>
              <a:t>  Ministry of Micro, Small &amp; Medium Enterprises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OFFICE 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• Bengaluru R&amp;D HQ (Karnataka)</a:t>
            </a:r>
            <a:br/>
            <a:r>
              <a:t>• Pune Operations Center (Maharashtra)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THE ENTERPRISE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FEFE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CYBER SECURITY THREATS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Ransomware and sophisticated phishing campaigns target data and infrastructure daily.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FEFE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LEGACY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Rigid on-premise components limit performance, scaling speed, and business agility.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FEFE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AI ADOPTION HURDLES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Difficulty in designing pipelines, securing ML models (MLSecOps), and preventing data leakage.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291840" cy="1828800"/>
          </a:xfrm>
          <a:prstGeom prst="roundRect">
            <a:avLst/>
          </a:prstGeom>
          <a:solidFill>
            <a:srgbClr val="FEFE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7315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CLOUD GOVERNANCE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Inefficient multi-cloud operations lead to major cost waste and security misconfigurations.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291840" cy="1828800"/>
          </a:xfrm>
          <a:prstGeom prst="roundRect">
            <a:avLst/>
          </a:prstGeom>
          <a:solidFill>
            <a:srgbClr val="FEFE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84048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COMPLIANCE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805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Strict regulatory standards (GRC, GDPR, DPDP) require constant posture audits.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840480"/>
            <a:ext cx="3291840" cy="1828800"/>
          </a:xfrm>
          <a:prstGeom prst="roundRect">
            <a:avLst/>
          </a:prstGeom>
          <a:solidFill>
            <a:srgbClr val="FEFE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7315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SPECIALIZED SKILL DRAIN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Acute shortage of top-tier talent in advanced cloud architectures, security, and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OUR SOLUTION: UNIFIED RESILIENCE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0F172A"/>
                </a:solidFill>
                <a:latin typeface="Arial"/>
              </a:defRPr>
            </a:pPr>
            <a:r>
              <a:t>THE SOLUTIONS LAYER</a:t>
            </a:r>
            <a:br/>
            <a:br/>
            <a:r>
              <a:t>Kloudera operates as a unified platform bridging cybersecurity, cloud operations, automation, AI enablement, and high-performance hardware.</a:t>
            </a:r>
            <a:br/>
            <a:br/>
            <a:r>
              <a:t>Rather than hiring disconnected vendors, enterprise clients receive a consolidated, secure digital core built on Zero-Trust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71600"/>
            <a:ext cx="5486400" cy="82296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371600"/>
            <a:ext cx="109728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48132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01 /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5564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Gen-AI pipelines, custom LLMs &amp; MLSecOps frameworks.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331720"/>
            <a:ext cx="5486400" cy="82296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2331720"/>
            <a:ext cx="10972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4414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02 / CLOUD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71576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Multi-cloud migration, orchestration &amp; compliance-ready serverless.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291840"/>
            <a:ext cx="5486400" cy="82296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29184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40156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03 / CYBERSECURITY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7588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vCISO governance, 24/7 Security surveillance (SoC), VAPT.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251960"/>
            <a:ext cx="5486400" cy="82296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251960"/>
            <a:ext cx="109728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36168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04 / INTELLIGENT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3600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Robotic Process Automation (RPA) and DevOps CI/CD pipelines.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212080"/>
            <a:ext cx="5486400" cy="82296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5212080"/>
            <a:ext cx="109728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3218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05 / DIGITAL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596128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Custom microservices app development and database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COMPREHENSIVE SERVICE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468880" cy="7315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031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vCISO &amp; vDPO</a:t>
            </a:r>
            <a:br/>
            <a:r>
              <a:t>VAPT / Red Team</a:t>
            </a:r>
            <a:br/>
            <a:r>
              <a:t>EDR, XDR, MDR</a:t>
            </a:r>
            <a:br/>
            <a:r>
              <a:t>24/7 SoC Service</a:t>
            </a:r>
            <a:br/>
            <a:r>
              <a:t>Cloud GRC &amp; Security</a:t>
            </a:r>
            <a:br/>
            <a:r>
              <a:t>MLSecOps (AI Security)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2468880" cy="7315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CLOUD &amp;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21031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Cloud Migrations</a:t>
            </a:r>
            <a:br/>
            <a:r>
              <a:t>Multi-Cloud Setup</a:t>
            </a:r>
            <a:br/>
            <a:r>
              <a:t>Serverless Compute</a:t>
            </a:r>
            <a:br/>
            <a:r>
              <a:t>Cost Optimization</a:t>
            </a:r>
            <a:br/>
            <a:r>
              <a:t>Infra Management</a:t>
            </a:r>
            <a:br/>
            <a:r>
              <a:t>DR as a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7315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AI &amp;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1031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Gen-AI Pipelines</a:t>
            </a:r>
            <a:br/>
            <a:r>
              <a:t>Custom LLM Rigs</a:t>
            </a:r>
            <a:br/>
            <a:r>
              <a:t>RPA Automation</a:t>
            </a:r>
            <a:br/>
            <a:r>
              <a:t>DevOps &amp; CI/CD</a:t>
            </a:r>
            <a:br/>
            <a:r>
              <a:t>IT Automation</a:t>
            </a:r>
            <a:br/>
            <a:r>
              <a:t>Infrastructure as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463040"/>
            <a:ext cx="2468880" cy="7315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91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CONSULTING &amp;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68880"/>
            <a:ext cx="21031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Digital Consulting</a:t>
            </a:r>
            <a:br/>
            <a:r>
              <a:t>Custom Software Dev</a:t>
            </a:r>
            <a:br/>
            <a:r>
              <a:t>Microservices Arch</a:t>
            </a:r>
            <a:br/>
            <a:r>
              <a:t>Database Design</a:t>
            </a:r>
            <a:br/>
            <a:r>
              <a:t>SAP, Oracle, CRM</a:t>
            </a:r>
            <a:br/>
            <a:r>
              <a:t>Staff Augmentation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ENTERPRISE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CLOUD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031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Microsoft Azure</a:t>
            </a:r>
            <a:br/>
            <a:r>
              <a:t>Amazon Web Services</a:t>
            </a:r>
            <a:br/>
            <a:r>
              <a:t>Google Cloud Platform</a:t>
            </a:r>
            <a:br/>
            <a:r>
              <a:t>Hybrid Datacenters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6888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SECURITY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1031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Microsoft Entra</a:t>
            </a:r>
            <a:br/>
            <a:r>
              <a:t>IAM / IGA / PAM</a:t>
            </a:r>
            <a:br/>
            <a:r>
              <a:t>EDR / XDR / VMDR</a:t>
            </a:r>
            <a:br/>
            <a:r>
              <a:t>Sprinto (SOC 2, ISO)</a:t>
            </a:r>
            <a:br/>
            <a:r>
              <a:t>Cross Cipher Threat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46888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AI &amp;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1031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Large Language Models (LLMs)</a:t>
            </a:r>
            <a:br/>
            <a:r>
              <a:t>TensorFlow / PyTorch</a:t>
            </a:r>
            <a:br/>
            <a:r>
              <a:t>UiPath (RPA)</a:t>
            </a:r>
            <a:br/>
            <a:r>
              <a:t>Terraform (IaC)</a:t>
            </a:r>
            <a:br/>
            <a:r>
              <a:t>DevOps Pipelines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46888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9202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DIGITAL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51760"/>
            <a:ext cx="21031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Node.js / Next.js</a:t>
            </a:r>
            <a:br/>
            <a:r>
              <a:t>Microservices (Docker, K8s)</a:t>
            </a:r>
            <a:br/>
            <a:r>
              <a:t>MongoDB / SQL</a:t>
            </a:r>
            <a:br/>
            <a:r>
              <a:t>SAP / Oracle ERP</a:t>
            </a:r>
            <a:br/>
            <a:r>
              <a:t>Salesforce CRM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KEY INNOVATIONS &amp; MARKET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91440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AI-FIRST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1">
                <a:solidFill>
                  <a:srgbClr val="06B6D4"/>
                </a:solidFill>
                <a:latin typeface="Arial"/>
              </a:defRPr>
            </a:pPr>
            <a:r>
              <a:t>Center of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We build bespoke LLM rigs and pipeline engines tailored to enterprise workflows, bypassing generic, high-cost public API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291840" cy="91440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SECURE-BY-DESIGN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1">
                <a:solidFill>
                  <a:srgbClr val="06B6D4"/>
                </a:solidFill>
                <a:latin typeface="Arial"/>
              </a:defRPr>
            </a:pPr>
            <a:r>
              <a:t>Zero-Trust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Cybersecurity isn't an afterthought. Every cloud migration, custom app, and automated script has built-in IAM, GRC, and encryption.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291840" cy="91440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10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VENDOR AGNOSTIC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1">
                <a:solidFill>
                  <a:srgbClr val="06B6D4"/>
                </a:solidFill>
                <a:latin typeface="Arial"/>
              </a:defRPr>
            </a:pPr>
            <a:r>
              <a:t>Hybrid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3464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We deploy multi-cloud systems integrating Microsoft, AWS, MongoDB, and partner security solutions for optimal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INDUSTRIES SERVED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BFSI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High-security financial structures, trading desks, capital management, and compliance checks (e.g. IndiaCapital, Fin Chikitsak).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HEALTHCARE &amp; LIFE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Data privacy protection (vDPO), HIPAA compliance, secure medical records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RETAIL &amp; 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High-volume secure transactions, microservices architecture, and cloud native customer experience scaling.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291840" cy="1828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MANUFACTURING &amp; 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Operational technology (OT) security, IoT sensor integration, and industrial process automation.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291840" cy="1828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8404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GOVERNMENT &amp; PUBLIC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805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Secure MSME digital integrations and national startup development initiatives.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840480"/>
            <a:ext cx="3291840" cy="1828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EDUCATION &amp; ACADEMICS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Partnering with premier institutes like SIT Pune for technical research, talent pipelines, and labs.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MARKET OPPORTUNITY &amp; GROWTH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$1.3 Trillion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GEN-AI ENTERPRISE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Expected size by 2032 as companies build bespoke LLM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5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1">
                <a:solidFill>
                  <a:srgbClr val="3B82F6"/>
                </a:solidFill>
                <a:latin typeface="Arial"/>
              </a:defRPr>
            </a:pPr>
            <a:r>
              <a:t>Source: Bloomberg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2468880" cy="16459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$679 Billion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CLOUD SERVICES SPENDING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2336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Global spending forecast by Gartner, driven by multi-cloud setups.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39495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1">
                <a:solidFill>
                  <a:srgbClr val="3B82F6"/>
                </a:solidFill>
                <a:latin typeface="Arial"/>
              </a:defRPr>
            </a:pPr>
            <a:r>
              <a:t>Source: Gartner Research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2468880" cy="16459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$266 Billion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CYBERSECURITY &amp; 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Rising threat landscapes demand proactive 24/7 security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9495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1">
                <a:solidFill>
                  <a:srgbClr val="3B82F6"/>
                </a:solidFill>
                <a:latin typeface="Arial"/>
              </a:defRPr>
            </a:pPr>
            <a:r>
              <a:t>Source: McKinsey &amp; 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645920"/>
            <a:ext cx="2468880" cy="16459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1031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$3.4 Trillion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DIGITAL TRANSFORMATION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Global investment in cloud and automation workflows.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39495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1">
                <a:solidFill>
                  <a:srgbClr val="3B82F6"/>
                </a:solidFill>
                <a:latin typeface="Arial"/>
              </a:defRPr>
            </a:pPr>
            <a:r>
              <a:t>Source: IDC Worldwide Spending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SCALABLE 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01 / AUDIT &amp; CONSULT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Initial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0116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Perform risk-free infrastructure assessments, vCISO compliance audits, and security vulnerability testing (VAPT).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4688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02 / ARCHITECT &amp;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Custom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08960"/>
            <a:ext cx="20116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Develop bespoke custom software, serverless cloud setups, Gen-AI pipelines, and high-performance hardware installations.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468880" cy="73152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03 / MANAGED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Recurring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20116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Deliver 24/7 Security Operations Center (SoC) surveillance, ongoing multi-cloud cost optimization, and proactive tech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645920"/>
            <a:ext cx="24688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874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04 / EXPAND &amp; 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51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Continuous 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108960"/>
            <a:ext cx="20116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Provide software upgrades, regular compliance reporting, lifecycle hardware maintenance, and global expansion advisory.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CUSTOMER INTEGRATION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9202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1.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463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Scope alignment &amp; infrastructure mapping.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63240" y="19202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011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2.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00400"/>
            <a:ext cx="1463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Thorough VAPT &amp; compliance threat detection.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19202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11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3.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00400"/>
            <a:ext cx="1463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Architecting custom LLM rigs &amp; cloud structures.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9202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011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4.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200400"/>
            <a:ext cx="1463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Secure migration &amp; DevSecOps pipeline setup.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011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5.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200400"/>
            <a:ext cx="1463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Activate 24/7 Security SoC operations.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95560" y="19202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2011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6. OPTIMIZE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200400"/>
            <a:ext cx="1463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Ongoing cost control &amp; tech scaling.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1828800"/>
            <a:ext cx="10058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WHY KLOUDERA TECHNOLOGIES?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731520"/>
          </a:xfrm>
          <a:prstGeom prst="roundRect">
            <a:avLst/>
          </a:prstGeom>
          <a:solidFill>
            <a:srgbClr val="0A2C6D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CRITICAL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45920"/>
            <a:ext cx="411480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TRADITIONAL IT VENDOR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4114800" cy="7315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8288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KLOUDERA TECHNOLOGIES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22860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Security Standard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46888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6517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Reactive, add-on software; frequent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468880"/>
            <a:ext cx="41148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6517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Zero-Trust default; native IAM &amp; GRC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22860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AI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324612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4290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API wrappers, high security leakage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246120"/>
            <a:ext cx="41148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4290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Bespoke local LLM rigs &amp; Gen-AI pipelines.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22860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Operational Speed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402336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206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Weeks of manual provisioning.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023360"/>
            <a:ext cx="41148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206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Automation-first with Terraform IaC &amp; CI/CD.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00600"/>
            <a:ext cx="22860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Cost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480060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4983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Fixed rates, hidden cloud costs.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800600"/>
            <a:ext cx="41148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983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Proactive multi-cloud optimization &amp; scheduling.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577840"/>
            <a:ext cx="22860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607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A2C6D"/>
                </a:solidFill>
                <a:latin typeface="Arial"/>
              </a:defRPr>
            </a:pPr>
            <a:r>
              <a:t>Infrastructure Support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557784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5760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Disconnected helpdesks.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5577840"/>
            <a:ext cx="41148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5760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24/7 Operations Center (SoC) surveillance.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FOUNDERS &amp;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O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7373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t>RATNESH PANDEY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1">
                <a:solidFill>
                  <a:srgbClr val="06B6D4"/>
                </a:solidFill>
                <a:latin typeface="Arial"/>
              </a:defRPr>
            </a:pPr>
            <a:r>
              <a:t>CEO | Co-Founder | vCISO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• Virtual CISO and technology architect for enterprise clients.</a:t>
            </a:r>
            <a:br/>
            <a:r>
              <a:t>• Over 12+ years of cybersecurity and infrastructure design experience.</a:t>
            </a:r>
            <a:br/>
            <a:r>
              <a:t>• Built custom security systems for global financial technology and IT corporations.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EO (2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3736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17373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t>DEEPA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1">
                <a:solidFill>
                  <a:srgbClr val="06B6D4"/>
                </a:solidFill>
                <a:latin typeface="Arial"/>
              </a:defRPr>
            </a:pPr>
            <a:r>
              <a:t>Director | Co-Founder | CHRO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6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• Strategic management, operations, and human resources leader.</a:t>
            </a:r>
            <a:br/>
            <a:r>
              <a:t>• Architect of Kloudera's organizational development and business growth strategy.</a:t>
            </a:r>
            <a:br/>
            <a:r>
              <a:t>• Driving local talent engagement and technology enablement initiatives.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STRATEGIC ALLIANCES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Ecosystem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Full integration with Microsoft Azure, Microsoft Entra Identity governance, and productivity infrastructures.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Database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Strategic database development and scaling partner, optimizing data models and application queries.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CROSS CIPHER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Enterprise Threat Intel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Providing deep network intelligence, secure corporate gateway solutions, and cloud defenses.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SPRINTO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Compliance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Enabling rapid compliance audits (SOC 2, ISO 27001, HIPAA) and monitoring posture automation.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TRUSTED CLIENT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2024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920240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INDIACAPITAL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1">
                <a:solidFill>
                  <a:srgbClr val="06B6D4"/>
                </a:solidFill>
                <a:latin typeface="Arial"/>
              </a:defRPr>
            </a:pPr>
            <a:r>
              <a:t>FinTech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645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Custom enterprise security architectures, financial transaction protection, and threat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45920"/>
            <a:ext cx="192024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645920"/>
            <a:ext cx="1920240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FIN CHIKITSAK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1">
                <a:solidFill>
                  <a:srgbClr val="06B6D4"/>
                </a:solidFill>
                <a:latin typeface="Arial"/>
              </a:defRPr>
            </a:pPr>
            <a:r>
              <a:t>FinTech &amp; Wellness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651760"/>
            <a:ext cx="1645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Comprehensive software development and advisory portal for financial wellness and advisory.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645920"/>
            <a:ext cx="192024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645920"/>
            <a:ext cx="1920240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828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GLEEDS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1">
                <a:solidFill>
                  <a:srgbClr val="06B6D4"/>
                </a:solidFill>
                <a:latin typeface="Arial"/>
              </a:defRPr>
            </a:pPr>
            <a:r>
              <a:t>Global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651760"/>
            <a:ext cx="1645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International property and construction management consultancy cloud infrastructure scaling.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645920"/>
            <a:ext cx="192024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1645920"/>
            <a:ext cx="1920240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828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STATUSNEO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1">
                <a:solidFill>
                  <a:srgbClr val="06B6D4"/>
                </a:solidFill>
                <a:latin typeface="Arial"/>
              </a:defRPr>
            </a:pPr>
            <a:r>
              <a:t>Enterprise IT Consulting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651760"/>
            <a:ext cx="1645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MNC IT consultancy custom web, mobile, and microservices database optimization.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645920"/>
            <a:ext cx="1920240" cy="411480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645920"/>
            <a:ext cx="1920240" cy="82296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828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SIT PUNE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1">
                <a:solidFill>
                  <a:srgbClr val="06B6D4"/>
                </a:solidFill>
                <a:latin typeface="Arial"/>
              </a:defRPr>
            </a:pPr>
            <a:r>
              <a:t>Education &amp;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51760"/>
            <a:ext cx="1645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Symbiosis Institute of Technology partnership for technical labs, research, and talent acquisition.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COMPETITIVE ADVANTAGE: PROPRIETARY 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KLOUDERA MEET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WORKSPACE &amp; COLLABORATION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14630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UNDER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Automated meeting scheduling, multi-timezone synchronization, and encrypted virtual room access governance for enterprise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KLOUDERA DATA RECOVERY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DISASTER RECOVERY &amp; BACKUP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651760"/>
            <a:ext cx="14630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7004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IN 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29260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Enterprise snapshot restoration, zero-data-loss ransomware recovery, and sector-level disk imaging for cloud and local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A2C6D"/>
                </a:solidFill>
                <a:latin typeface="Arial"/>
              </a:defRPr>
            </a:pPr>
            <a:r>
              <a:t>KLOUDERA REMOTE DEVICE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DEVICE MANAGEMENT &amp; MDM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51760"/>
            <a:ext cx="146304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67004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BETA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29260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Centralized remote device administration, automated endpoint patch deployment, and real-time security telemetry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STRATEGIC ROADMAP (2026 - 2030)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29260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2563EB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Proprietary IP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Release final versions of the Meet Scheduler, Data Recovery Tool, and Remote Controller.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286000"/>
            <a:ext cx="2011680" cy="29260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2563EB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Enterprise SaaS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4747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Launch subscription-based licensing models for our software tools globally.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286000"/>
            <a:ext cx="2011680" cy="29260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2563EB"/>
                </a:solidFill>
                <a:latin typeface="Arial"/>
              </a:defRPr>
            </a:pPr>
            <a: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Global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4747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Establish operations and sales centers in the Middle East and North America.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286000"/>
            <a:ext cx="2011680" cy="29260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2563EB"/>
                </a:solidFill>
                <a:latin typeface="Arial"/>
              </a:defRPr>
            </a:pPr>
            <a: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Strategic Alliances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747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Form alliances with tier-1 global system integrators to scale distribution.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286000"/>
            <a:ext cx="2011680" cy="29260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2563EB"/>
                </a:solidFill>
                <a:latin typeface="Arial"/>
              </a:defRPr>
            </a:pPr>
            <a:r>
              <a:t>2030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Vision 2030 Targets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747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Establish market leadership in enterprise AI integration and integrated cyber resilience.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828800"/>
            <a:ext cx="10515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2C6D"/>
                </a:solidFill>
                <a:latin typeface="Arial"/>
              </a:defRPr>
            </a:pPr>
            <a:r>
              <a:t>ECONOMIC &amp; SOCIAL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EMPLOYMENT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Expanding engineering hubs in Pune and Bengaluru, providing high-skilled jobs for regional tech talent.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DIGITAL INDIA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6616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Aligned with national initiatives, enabling small and mid-sized enterprises (MSMEs) to transition safely to the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AI ADOPTION ENABLER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Sponsoring R&amp;D and training at academic institutes (SIT Pune) to build future-ready AI engineers.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645920"/>
            <a:ext cx="2468880" cy="1097280"/>
          </a:xfrm>
          <a:prstGeom prst="rect">
            <a:avLst/>
          </a:prstGeom>
          <a:solidFill>
            <a:srgbClr val="0A2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CYBER SAFETY ADVOCACY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56616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Conducting security awareness workshops for local communities and startups to prevent digital fraud.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A2C6D"/>
                </a:solidFill>
                <a:latin typeface="Arial"/>
              </a:defRPr>
            </a:pPr>
            <a:r>
              <a:t>VISION 2030: GLOBAL RESILIENCE LEADER</a:t>
            </a:r>
          </a:p>
          <a:p>
            <a:pPr>
              <a:spcBef>
                <a:spcPts val="2000"/>
              </a:spcBef>
              <a:defRPr sz="1800">
                <a:solidFill>
                  <a:srgbClr val="2563EB"/>
                </a:solidFill>
                <a:latin typeface="Arial"/>
              </a:defRPr>
            </a:pPr>
            <a:r>
              <a:t>Pillars for the Next Decade of Enterprise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3291840" cy="1828800"/>
          </a:xfrm>
          <a:prstGeom prst="roundRect">
            <a:avLst/>
          </a:prstGeom>
          <a:solidFill>
            <a:srgbClr val="0A2C6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GLOBAL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6B6D4"/>
                </a:solidFill>
                <a:latin typeface="Arial"/>
              </a:defRPr>
            </a:pPr>
            <a:r>
              <a:t>Establishing sales and distribution in UAE, Singapore, UK, and US markets.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114800"/>
            <a:ext cx="3291840" cy="1828800"/>
          </a:xfrm>
          <a:prstGeom prst="roundRect">
            <a:avLst/>
          </a:prstGeom>
          <a:solidFill>
            <a:srgbClr val="0A2C6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SaaS DOMINANCE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7548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6B6D4"/>
                </a:solidFill>
                <a:latin typeface="Arial"/>
              </a:defRPr>
            </a:pPr>
            <a:r>
              <a:t>Building recurring subscription revenues via proprietary workspace and data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114800"/>
            <a:ext cx="3291840" cy="1828800"/>
          </a:xfrm>
          <a:prstGeom prst="roundRect">
            <a:avLst/>
          </a:prstGeom>
          <a:solidFill>
            <a:srgbClr val="0A2C6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CYBER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6B6D4"/>
                </a:solidFill>
                <a:latin typeface="Arial"/>
              </a:defRPr>
            </a:pPr>
            <a:r>
              <a:t>Setting international standards for integrated security-by-design structures.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ouderaNewLogo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286000" cy="91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A2C6D"/>
                </a:solidFill>
                <a:latin typeface="Arial"/>
              </a:defRPr>
            </a:pPr>
            <a:r>
              <a:t>KLOUDERA TECHNOLOGIES</a:t>
            </a:r>
          </a:p>
          <a:p>
            <a:pPr>
              <a:spcBef>
                <a:spcPts val="2000"/>
              </a:spcBef>
              <a:defRPr sz="1800">
                <a:solidFill>
                  <a:srgbClr val="2563EB"/>
                </a:solidFill>
                <a:latin typeface="Arial"/>
              </a:defRPr>
            </a:pPr>
            <a:r>
              <a:t>Empowering Secure Digital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Kloudera Technologies Pvt. Ltd.</a:t>
            </a:r>
            <a:br/>
            <a:r>
              <a:t>Web: www.kloudera.ai</a:t>
            </a:r>
            <a:br/>
            <a:r>
              <a:t>Email: info@kloudera.ai</a:t>
            </a:r>
            <a:br/>
            <a:r>
              <a:t>Tel: +91 9899822926, +91 9390484180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2563EB"/>
                </a:solidFill>
                <a:latin typeface="Arial"/>
              </a:defRPr>
            </a:pPr>
            <a:r>
              <a:t>Bengaluru Office: Shri Durga Kurupa, Thanisandra, Bengaluru - 560045</a:t>
            </a:r>
            <a:br/>
            <a:r>
              <a:t>Pune Office: City Vista DownTown, Kharadi, Pune - 411014</a:t>
            </a:r>
            <a:br/>
            <a:r>
              <a:t>Thank You for your consideration.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